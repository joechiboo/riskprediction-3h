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4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CC361-F06B-4E5F-B5B5-E97666DBAB1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DAA079D-F2BF-408F-884D-2ED59EB562ED}">
      <dgm:prSet phldrT="[文字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原始健檢資料</a:t>
          </a:r>
          <a:r>
            <a:rPr lang="en-US" altLang="zh-TW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/>
          </a:r>
          <a:br>
            <a:rPr lang="en-US" altLang="zh-TW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</a:b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（縱貫追蹤，約 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2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年一次）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E39AAE0E-07AF-48E3-8CED-B5C8CA5847CB}" type="parTrans" cxnId="{B85CD87F-5952-4C67-AB73-76D3C8DD2230}">
      <dgm:prSet/>
      <dgm:spPr/>
      <dgm:t>
        <a:bodyPr/>
        <a:lstStyle/>
        <a:p>
          <a:endParaRPr lang="zh-TW" altLang="en-US"/>
        </a:p>
      </dgm:t>
    </dgm:pt>
    <dgm:pt modelId="{D908EF3B-178F-41B0-9F40-F9B8587796E4}" type="sibTrans" cxnId="{B85CD87F-5952-4C67-AB73-76D3C8DD2230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FC5C94F3-A090-48AC-8706-0A89BEED4BAE}">
      <dgm:prSet phldrT="[文字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模型建立與評估              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訓練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/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測試集切分（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80/20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，分層抽樣）             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模型訓練（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LR, RF, </a:t>
          </a:r>
          <a:r>
            <a:rPr lang="en-US" altLang="en-US" sz="10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, ANN, SVM,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符號回歸）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效能評估（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AUC, Sensitivity, Specificity, F1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消融實驗（</a:t>
          </a:r>
          <a:r>
            <a:rPr lang="el-GR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Δ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特徵、</a:t>
          </a:r>
          <a:r>
            <a:rPr lang="en-US" altLang="en-US" sz="10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class_weight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           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可解釋性分析（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SHAP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849BA891-DB09-4AB5-B2C8-BFA9C0606FDF}" type="parTrans" cxnId="{95B60327-313E-4C2B-BAD2-4553E5EBB11C}">
      <dgm:prSet/>
      <dgm:spPr/>
      <dgm:t>
        <a:bodyPr/>
        <a:lstStyle/>
        <a:p>
          <a:endParaRPr lang="zh-TW" altLang="en-US"/>
        </a:p>
      </dgm:t>
    </dgm:pt>
    <dgm:pt modelId="{BE6D7D6D-00DC-4AC4-90D1-7B32F66C3889}" type="sibTrans" cxnId="{95B60327-313E-4C2B-BAD2-4553E5EBB11C}">
      <dgm:prSet/>
      <dgm:spPr/>
      <dgm:t>
        <a:bodyPr/>
        <a:lstStyle/>
        <a:p>
          <a:endParaRPr lang="zh-TW" altLang="en-US"/>
        </a:p>
      </dgm:t>
    </dgm:pt>
    <dgm:pt modelId="{CBC33835-6CA6-42A8-A5D3-B4B5DF764973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資料前處理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篩選符合條件的受檢者（至少 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3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次健檢紀錄）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轉換為寬表格式（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Wide Format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定義目標變數（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T3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時間點的三高狀態）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E23BA6DC-EDE3-4C87-9BED-D108281A22C0}" type="parTrans" cxnId="{48144A4D-8C8E-4395-B7B6-F4AE9D73D40F}">
      <dgm:prSet/>
      <dgm:spPr/>
      <dgm:t>
        <a:bodyPr/>
        <a:lstStyle/>
        <a:p>
          <a:endParaRPr lang="zh-TW" altLang="en-US"/>
        </a:p>
      </dgm:t>
    </dgm:pt>
    <dgm:pt modelId="{BC70E0B3-AE85-4146-AE12-8CD26A4E378A}" type="sibTrans" cxnId="{48144A4D-8C8E-4395-B7B6-F4AE9D73D40F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75BDFA32-03C6-4D56-B113-6147AEC17C6E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特徵工程                  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T1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時間點特徵（基線值）                                        </a:t>
          </a:r>
        </a:p>
        <a:p>
          <a:pPr algn="l"/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T2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時間點特徵（最近一次健檢值）                                 </a:t>
          </a:r>
        </a:p>
        <a:p>
          <a:pPr algn="l"/>
          <a:r>
            <a:rPr lang="el-GR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Δ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T2 - T1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變化量） 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917B0EB0-D580-49AC-9220-6C2E318AD135}" type="parTrans" cxnId="{645ABF94-D37A-4466-8A59-1BD87827364C}">
      <dgm:prSet/>
      <dgm:spPr/>
      <dgm:t>
        <a:bodyPr/>
        <a:lstStyle/>
        <a:p>
          <a:endParaRPr lang="zh-TW" altLang="en-US"/>
        </a:p>
      </dgm:t>
    </dgm:pt>
    <dgm:pt modelId="{E77EC3D4-2DA6-44E0-A63D-18A3E98E5CEE}" type="sibTrans" cxnId="{645ABF94-D37A-4466-8A59-1BD87827364C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C7E99439-D27B-4B45-ABC2-89AD7A77C3B2}" type="pres">
      <dgm:prSet presAssocID="{737CC361-F06B-4E5F-B5B5-E97666DBAB1B}" presName="linearFlow" presStyleCnt="0">
        <dgm:presLayoutVars>
          <dgm:resizeHandles val="exact"/>
        </dgm:presLayoutVars>
      </dgm:prSet>
      <dgm:spPr/>
    </dgm:pt>
    <dgm:pt modelId="{FBB9845B-A027-464F-92EF-3B81329B509C}" type="pres">
      <dgm:prSet presAssocID="{8DAA079D-F2BF-408F-884D-2ED59EB562ED}" presName="node" presStyleLbl="node1" presStyleIdx="0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0D91F0-F793-4E54-9810-4CE04E50E3B6}" type="pres">
      <dgm:prSet presAssocID="{D908EF3B-178F-41B0-9F40-F9B8587796E4}" presName="sibTrans" presStyleLbl="sibTrans2D1" presStyleIdx="0" presStyleCnt="3"/>
      <dgm:spPr/>
      <dgm:t>
        <a:bodyPr/>
        <a:lstStyle/>
        <a:p>
          <a:endParaRPr lang="zh-TW" altLang="en-US"/>
        </a:p>
      </dgm:t>
    </dgm:pt>
    <dgm:pt modelId="{10749F5C-DFF1-4D94-9CFF-2FF8F082E39A}" type="pres">
      <dgm:prSet presAssocID="{D908EF3B-178F-41B0-9F40-F9B8587796E4}" presName="connectorText" presStyleLbl="sibTrans2D1" presStyleIdx="0" presStyleCnt="3"/>
      <dgm:spPr/>
      <dgm:t>
        <a:bodyPr/>
        <a:lstStyle/>
        <a:p>
          <a:endParaRPr lang="zh-TW" altLang="en-US"/>
        </a:p>
      </dgm:t>
    </dgm:pt>
    <dgm:pt modelId="{FDE6F87F-F01D-4958-B5DC-B7125E261495}" type="pres">
      <dgm:prSet presAssocID="{CBC33835-6CA6-42A8-A5D3-B4B5DF764973}" presName="node" presStyleLbl="node1" presStyleIdx="1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6E5799D-2FD4-41A7-A468-2DF7852208F2}" type="pres">
      <dgm:prSet presAssocID="{BC70E0B3-AE85-4146-AE12-8CD26A4E378A}" presName="sibTrans" presStyleLbl="sibTrans2D1" presStyleIdx="1" presStyleCnt="3"/>
      <dgm:spPr/>
      <dgm:t>
        <a:bodyPr/>
        <a:lstStyle/>
        <a:p>
          <a:endParaRPr lang="zh-TW" altLang="en-US"/>
        </a:p>
      </dgm:t>
    </dgm:pt>
    <dgm:pt modelId="{EE32FD68-DB45-42BC-96CA-0D968298BA48}" type="pres">
      <dgm:prSet presAssocID="{BC70E0B3-AE85-4146-AE12-8CD26A4E378A}" presName="connectorText" presStyleLbl="sibTrans2D1" presStyleIdx="1" presStyleCnt="3"/>
      <dgm:spPr/>
      <dgm:t>
        <a:bodyPr/>
        <a:lstStyle/>
        <a:p>
          <a:endParaRPr lang="zh-TW" altLang="en-US"/>
        </a:p>
      </dgm:t>
    </dgm:pt>
    <dgm:pt modelId="{97C09938-7EF6-4761-97A9-52DA624C4454}" type="pres">
      <dgm:prSet presAssocID="{75BDFA32-03C6-4D56-B113-6147AEC17C6E}" presName="node" presStyleLbl="node1" presStyleIdx="2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27E9C2C-2BEF-4059-9B08-404786024CEE}" type="pres">
      <dgm:prSet presAssocID="{E77EC3D4-2DA6-44E0-A63D-18A3E98E5CEE}" presName="sibTrans" presStyleLbl="sibTrans2D1" presStyleIdx="2" presStyleCnt="3"/>
      <dgm:spPr/>
      <dgm:t>
        <a:bodyPr/>
        <a:lstStyle/>
        <a:p>
          <a:endParaRPr lang="zh-TW" altLang="en-US"/>
        </a:p>
      </dgm:t>
    </dgm:pt>
    <dgm:pt modelId="{7CC99EA3-82F8-417B-85D9-320F818030B3}" type="pres">
      <dgm:prSet presAssocID="{E77EC3D4-2DA6-44E0-A63D-18A3E98E5CEE}" presName="connectorText" presStyleLbl="sibTrans2D1" presStyleIdx="2" presStyleCnt="3"/>
      <dgm:spPr/>
      <dgm:t>
        <a:bodyPr/>
        <a:lstStyle/>
        <a:p>
          <a:endParaRPr lang="zh-TW" altLang="en-US"/>
        </a:p>
      </dgm:t>
    </dgm:pt>
    <dgm:pt modelId="{BEB50BA1-020F-4EC8-A516-0D6F0F857114}" type="pres">
      <dgm:prSet presAssocID="{FC5C94F3-A090-48AC-8706-0A89BEED4BAE}" presName="node" presStyleLbl="node1" presStyleIdx="3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CAA08E66-F757-4495-889B-C652D4F0C766}" type="presOf" srcId="{BC70E0B3-AE85-4146-AE12-8CD26A4E378A}" destId="{EE32FD68-DB45-42BC-96CA-0D968298BA48}" srcOrd="1" destOrd="0" presId="urn:microsoft.com/office/officeart/2005/8/layout/process2"/>
    <dgm:cxn modelId="{E4EE22D4-B03A-4F34-BE6E-302B413AA315}" type="presOf" srcId="{75BDFA32-03C6-4D56-B113-6147AEC17C6E}" destId="{97C09938-7EF6-4761-97A9-52DA624C4454}" srcOrd="0" destOrd="0" presId="urn:microsoft.com/office/officeart/2005/8/layout/process2"/>
    <dgm:cxn modelId="{C6089E42-87BB-4F26-A16B-65E66A1D28E5}" type="presOf" srcId="{FC5C94F3-A090-48AC-8706-0A89BEED4BAE}" destId="{BEB50BA1-020F-4EC8-A516-0D6F0F857114}" srcOrd="0" destOrd="0" presId="urn:microsoft.com/office/officeart/2005/8/layout/process2"/>
    <dgm:cxn modelId="{B85CD87F-5952-4C67-AB73-76D3C8DD2230}" srcId="{737CC361-F06B-4E5F-B5B5-E97666DBAB1B}" destId="{8DAA079D-F2BF-408F-884D-2ED59EB562ED}" srcOrd="0" destOrd="0" parTransId="{E39AAE0E-07AF-48E3-8CED-B5C8CA5847CB}" sibTransId="{D908EF3B-178F-41B0-9F40-F9B8587796E4}"/>
    <dgm:cxn modelId="{5174D91D-0FDF-4DD0-AC2E-5167C06FD09E}" type="presOf" srcId="{8DAA079D-F2BF-408F-884D-2ED59EB562ED}" destId="{FBB9845B-A027-464F-92EF-3B81329B509C}" srcOrd="0" destOrd="0" presId="urn:microsoft.com/office/officeart/2005/8/layout/process2"/>
    <dgm:cxn modelId="{645ABF94-D37A-4466-8A59-1BD87827364C}" srcId="{737CC361-F06B-4E5F-B5B5-E97666DBAB1B}" destId="{75BDFA32-03C6-4D56-B113-6147AEC17C6E}" srcOrd="2" destOrd="0" parTransId="{917B0EB0-D580-49AC-9220-6C2E318AD135}" sibTransId="{E77EC3D4-2DA6-44E0-A63D-18A3E98E5CEE}"/>
    <dgm:cxn modelId="{0BC6A778-B549-48B9-A693-C6EEBDB358AC}" type="presOf" srcId="{E77EC3D4-2DA6-44E0-A63D-18A3E98E5CEE}" destId="{C27E9C2C-2BEF-4059-9B08-404786024CEE}" srcOrd="0" destOrd="0" presId="urn:microsoft.com/office/officeart/2005/8/layout/process2"/>
    <dgm:cxn modelId="{2EC81A44-809B-4648-A642-85C11FB64E4D}" type="presOf" srcId="{D908EF3B-178F-41B0-9F40-F9B8587796E4}" destId="{10749F5C-DFF1-4D94-9CFF-2FF8F082E39A}" srcOrd="1" destOrd="0" presId="urn:microsoft.com/office/officeart/2005/8/layout/process2"/>
    <dgm:cxn modelId="{A06B7D2F-0EBC-4094-A21A-36B4C0CCEE7C}" type="presOf" srcId="{CBC33835-6CA6-42A8-A5D3-B4B5DF764973}" destId="{FDE6F87F-F01D-4958-B5DC-B7125E261495}" srcOrd="0" destOrd="0" presId="urn:microsoft.com/office/officeart/2005/8/layout/process2"/>
    <dgm:cxn modelId="{F34CB7DE-6AAA-4D28-A9F7-A824C26CC4D2}" type="presOf" srcId="{E77EC3D4-2DA6-44E0-A63D-18A3E98E5CEE}" destId="{7CC99EA3-82F8-417B-85D9-320F818030B3}" srcOrd="1" destOrd="0" presId="urn:microsoft.com/office/officeart/2005/8/layout/process2"/>
    <dgm:cxn modelId="{5E685FF7-0F6A-45C7-936A-BE85202C3666}" type="presOf" srcId="{D908EF3B-178F-41B0-9F40-F9B8587796E4}" destId="{9B0D91F0-F793-4E54-9810-4CE04E50E3B6}" srcOrd="0" destOrd="0" presId="urn:microsoft.com/office/officeart/2005/8/layout/process2"/>
    <dgm:cxn modelId="{4810F4D6-F03C-4DEF-9A17-E262B693A741}" type="presOf" srcId="{BC70E0B3-AE85-4146-AE12-8CD26A4E378A}" destId="{C6E5799D-2FD4-41A7-A468-2DF7852208F2}" srcOrd="0" destOrd="0" presId="urn:microsoft.com/office/officeart/2005/8/layout/process2"/>
    <dgm:cxn modelId="{CBDEB2B1-48E6-4087-B023-6148893FCDD5}" type="presOf" srcId="{737CC361-F06B-4E5F-B5B5-E97666DBAB1B}" destId="{C7E99439-D27B-4B45-ABC2-89AD7A77C3B2}" srcOrd="0" destOrd="0" presId="urn:microsoft.com/office/officeart/2005/8/layout/process2"/>
    <dgm:cxn modelId="{48144A4D-8C8E-4395-B7B6-F4AE9D73D40F}" srcId="{737CC361-F06B-4E5F-B5B5-E97666DBAB1B}" destId="{CBC33835-6CA6-42A8-A5D3-B4B5DF764973}" srcOrd="1" destOrd="0" parTransId="{E23BA6DC-EDE3-4C87-9BED-D108281A22C0}" sibTransId="{BC70E0B3-AE85-4146-AE12-8CD26A4E378A}"/>
    <dgm:cxn modelId="{95B60327-313E-4C2B-BAD2-4553E5EBB11C}" srcId="{737CC361-F06B-4E5F-B5B5-E97666DBAB1B}" destId="{FC5C94F3-A090-48AC-8706-0A89BEED4BAE}" srcOrd="3" destOrd="0" parTransId="{849BA891-DB09-4AB5-B2C8-BFA9C0606FDF}" sibTransId="{BE6D7D6D-00DC-4AC4-90D1-7B32F66C3889}"/>
    <dgm:cxn modelId="{C00330F2-A16E-4783-9CDD-9C757E07AE3E}" type="presParOf" srcId="{C7E99439-D27B-4B45-ABC2-89AD7A77C3B2}" destId="{FBB9845B-A027-464F-92EF-3B81329B509C}" srcOrd="0" destOrd="0" presId="urn:microsoft.com/office/officeart/2005/8/layout/process2"/>
    <dgm:cxn modelId="{38325FF0-36C6-42E2-8148-1870D401009F}" type="presParOf" srcId="{C7E99439-D27B-4B45-ABC2-89AD7A77C3B2}" destId="{9B0D91F0-F793-4E54-9810-4CE04E50E3B6}" srcOrd="1" destOrd="0" presId="urn:microsoft.com/office/officeart/2005/8/layout/process2"/>
    <dgm:cxn modelId="{7FB0D735-6704-4AED-AF61-EB58A49FDC45}" type="presParOf" srcId="{9B0D91F0-F793-4E54-9810-4CE04E50E3B6}" destId="{10749F5C-DFF1-4D94-9CFF-2FF8F082E39A}" srcOrd="0" destOrd="0" presId="urn:microsoft.com/office/officeart/2005/8/layout/process2"/>
    <dgm:cxn modelId="{E119C3DE-FD28-4297-AE1F-1E0B34EC1F4B}" type="presParOf" srcId="{C7E99439-D27B-4B45-ABC2-89AD7A77C3B2}" destId="{FDE6F87F-F01D-4958-B5DC-B7125E261495}" srcOrd="2" destOrd="0" presId="urn:microsoft.com/office/officeart/2005/8/layout/process2"/>
    <dgm:cxn modelId="{DD3DC148-30BD-4C6E-90C2-E9EA1F0F6EC6}" type="presParOf" srcId="{C7E99439-D27B-4B45-ABC2-89AD7A77C3B2}" destId="{C6E5799D-2FD4-41A7-A468-2DF7852208F2}" srcOrd="3" destOrd="0" presId="urn:microsoft.com/office/officeart/2005/8/layout/process2"/>
    <dgm:cxn modelId="{89B845E4-32A4-421A-93A0-49ADB0B4879A}" type="presParOf" srcId="{C6E5799D-2FD4-41A7-A468-2DF7852208F2}" destId="{EE32FD68-DB45-42BC-96CA-0D968298BA48}" srcOrd="0" destOrd="0" presId="urn:microsoft.com/office/officeart/2005/8/layout/process2"/>
    <dgm:cxn modelId="{F286B46B-477E-4350-AA88-79D0E1E7C8AF}" type="presParOf" srcId="{C7E99439-D27B-4B45-ABC2-89AD7A77C3B2}" destId="{97C09938-7EF6-4761-97A9-52DA624C4454}" srcOrd="4" destOrd="0" presId="urn:microsoft.com/office/officeart/2005/8/layout/process2"/>
    <dgm:cxn modelId="{06D713F6-4CF5-4965-B857-1F956D083EB1}" type="presParOf" srcId="{C7E99439-D27B-4B45-ABC2-89AD7A77C3B2}" destId="{C27E9C2C-2BEF-4059-9B08-404786024CEE}" srcOrd="5" destOrd="0" presId="urn:microsoft.com/office/officeart/2005/8/layout/process2"/>
    <dgm:cxn modelId="{20A5CF20-5DB8-4334-A140-00D61A3C1FE8}" type="presParOf" srcId="{C27E9C2C-2BEF-4059-9B08-404786024CEE}" destId="{7CC99EA3-82F8-417B-85D9-320F818030B3}" srcOrd="0" destOrd="0" presId="urn:microsoft.com/office/officeart/2005/8/layout/process2"/>
    <dgm:cxn modelId="{FFE91AD9-607C-49EC-8511-157F72FCBC7F}" type="presParOf" srcId="{C7E99439-D27B-4B45-ABC2-89AD7A77C3B2}" destId="{BEB50BA1-020F-4EC8-A516-0D6F0F85711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9845B-A027-464F-92EF-3B81329B509C}">
      <dsp:nvSpPr>
        <dsp:cNvPr id="0" name=""/>
        <dsp:cNvSpPr/>
      </dsp:nvSpPr>
      <dsp:spPr>
        <a:xfrm>
          <a:off x="2612602" y="6466"/>
          <a:ext cx="3631779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原始健檢資料</a:t>
          </a:r>
          <a:r>
            <a:rPr lang="en-US" altLang="zh-TW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/>
          </a:r>
          <a:br>
            <a:rPr lang="en-US" altLang="zh-TW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</a:b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（縱貫追蹤，約 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2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年一次）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647812" y="41676"/>
        <a:ext cx="3561359" cy="1131726"/>
      </dsp:txXfrm>
    </dsp:sp>
    <dsp:sp modelId="{9B0D91F0-F793-4E54-9810-4CE04E50E3B6}">
      <dsp:nvSpPr>
        <dsp:cNvPr id="0" name=""/>
        <dsp:cNvSpPr/>
      </dsp:nvSpPr>
      <dsp:spPr>
        <a:xfrm rot="5400000">
          <a:off x="4203089" y="1238666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1283747"/>
        <a:ext cx="324579" cy="315563"/>
      </dsp:txXfrm>
    </dsp:sp>
    <dsp:sp modelId="{FDE6F87F-F01D-4958-B5DC-B7125E261495}">
      <dsp:nvSpPr>
        <dsp:cNvPr id="0" name=""/>
        <dsp:cNvSpPr/>
      </dsp:nvSpPr>
      <dsp:spPr>
        <a:xfrm>
          <a:off x="2612602" y="1809685"/>
          <a:ext cx="3631779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資料前處理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篩選符合條件的受檢者（至少 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3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次健檢紀錄）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轉換為寬表格式（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Wide Format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定義目標變數（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T3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時間點的三高狀態）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647812" y="1844895"/>
        <a:ext cx="3561359" cy="1131726"/>
      </dsp:txXfrm>
    </dsp:sp>
    <dsp:sp modelId="{C6E5799D-2FD4-41A7-A468-2DF7852208F2}">
      <dsp:nvSpPr>
        <dsp:cNvPr id="0" name=""/>
        <dsp:cNvSpPr/>
      </dsp:nvSpPr>
      <dsp:spPr>
        <a:xfrm rot="5400000">
          <a:off x="4203089" y="3041885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3086966"/>
        <a:ext cx="324579" cy="315563"/>
      </dsp:txXfrm>
    </dsp:sp>
    <dsp:sp modelId="{97C09938-7EF6-4761-97A9-52DA624C4454}">
      <dsp:nvSpPr>
        <dsp:cNvPr id="0" name=""/>
        <dsp:cNvSpPr/>
      </dsp:nvSpPr>
      <dsp:spPr>
        <a:xfrm>
          <a:off x="2612602" y="3612904"/>
          <a:ext cx="3631779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特徵工程     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T1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時間點特徵（基線值）          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T2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時間點特徵（最近一次健檢值）   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Δ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T2 - T1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變化量） 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647812" y="3648114"/>
        <a:ext cx="3561359" cy="1131726"/>
      </dsp:txXfrm>
    </dsp:sp>
    <dsp:sp modelId="{C27E9C2C-2BEF-4059-9B08-404786024CEE}">
      <dsp:nvSpPr>
        <dsp:cNvPr id="0" name=""/>
        <dsp:cNvSpPr/>
      </dsp:nvSpPr>
      <dsp:spPr>
        <a:xfrm rot="5400000">
          <a:off x="4203089" y="4845104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4890185"/>
        <a:ext cx="324579" cy="315563"/>
      </dsp:txXfrm>
    </dsp:sp>
    <dsp:sp modelId="{BEB50BA1-020F-4EC8-A516-0D6F0F857114}">
      <dsp:nvSpPr>
        <dsp:cNvPr id="0" name=""/>
        <dsp:cNvSpPr/>
      </dsp:nvSpPr>
      <dsp:spPr>
        <a:xfrm>
          <a:off x="2612602" y="5416123"/>
          <a:ext cx="3631779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模型建立與評估 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訓練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/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測試集切分（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80/20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，分層抽樣）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模型訓練（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LR, RF, </a:t>
          </a:r>
          <a:r>
            <a:rPr lang="en-US" altLang="en-US" sz="10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, ANN, SVM,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符號回歸）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效能評估（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AUC, Sensitivity, Specificity, F1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消融實驗（</a:t>
          </a:r>
          <a:r>
            <a:rPr lang="el-GR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Δ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特徵、</a:t>
          </a:r>
          <a:r>
            <a:rPr lang="en-US" altLang="en-US" sz="10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class_weight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                           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可解釋性分析（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SHAP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   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647812" y="5451333"/>
        <a:ext cx="3561359" cy="1131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4E2B0-A8F6-417E-B341-E764BD2233E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58FA2-1510-49C4-9BA9-0CD0661F88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79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圖 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3-1 </a:t>
            </a:r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研究架構圖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fig3-1_research_framework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58FA2-1510-49C4-9BA9-0CD0661F881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62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3.1.1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是時間軸設計圖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fig3-1-1_timeline.png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58FA2-1510-49C4-9BA9-0CD0661F881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28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2025/12/31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237804750"/>
              </p:ext>
            </p:extLst>
          </p:nvPr>
        </p:nvGraphicFramePr>
        <p:xfrm>
          <a:off x="179512" y="116632"/>
          <a:ext cx="8856984" cy="662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038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單箭頭接點 2"/>
          <p:cNvCxnSpPr/>
          <p:nvPr/>
        </p:nvCxnSpPr>
        <p:spPr>
          <a:xfrm>
            <a:off x="1259632" y="1372126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>
            <a:off x="2843808" y="1372126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827584" y="1187460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273032" y="1385161"/>
            <a:ext cx="3154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約兩年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約兩年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27584" y="1844824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輸入特徵：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X_T1, X_T2, 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Δ(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T2-T1)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預測目標：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Y_T3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（是否罹患三高）</a:t>
            </a:r>
          </a:p>
        </p:txBody>
      </p:sp>
    </p:spTree>
    <p:extLst>
      <p:ext uri="{BB962C8B-B14F-4D97-AF65-F5344CB8AC3E}">
        <p14:creationId xmlns:p14="http://schemas.microsoft.com/office/powerpoint/2010/main" val="336290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187</Words>
  <Application>Microsoft Office PowerPoint</Application>
  <PresentationFormat>如螢幕大小 (4:3)</PresentationFormat>
  <Paragraphs>24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紀伯喬</dc:creator>
  <cp:lastModifiedBy>紀伯喬</cp:lastModifiedBy>
  <cp:revision>4</cp:revision>
  <dcterms:created xsi:type="dcterms:W3CDTF">2025-12-31T07:27:44Z</dcterms:created>
  <dcterms:modified xsi:type="dcterms:W3CDTF">2025-12-31T07:55:38Z</dcterms:modified>
</cp:coreProperties>
</file>